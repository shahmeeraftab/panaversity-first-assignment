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yourself as Shahmeer Aftab from Panaversity. This presentation covers the foundational concepts of Agentic AI architecture from Lecture 01. Set expectations: we will explore the evolution of AI, the 10-80-10 delegation model, and how to architect enterprise-level autonomous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Let the audience know we'll go through the evolution of AI, the delegation model, and end with concrete design principles. Estimated presentation time: 20-25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 Zia Khan opened by sharing his personal journey from underperforming student to completing 5 simultaneous graduate degrees in the US. The key message: the era of 'good enough' technical skills is over. Agentic AI raises the bar — students who embrace this change become founders, not just employees. Emphasize the flat partnership model this course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 Hania Kazmi detailed this three-tier progression. Level 1 (Predictive AI) uses static statistical models — think spam filters. Level 2 (Generative AI) arrived in 2022 with ChatGPT and Claude, offering powerful single-shot generation but requiring human orchestration. Level 3 (Agentic AI) is the frontier: systems that accept business goals and autonomously execute, test, and correct themselves. This is what the course trains students to build and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doesn't just run once — it loops. Phase 1 is planning (breaking the goal into steps). Phase 2 is research (real-time web data collection). Phase 3 is building (actually generating code, files, and UI). Phase 4 is testing and self-correction — the agent reads its own error logs and re-runs until the output is clean. This recursive loop is what makes Agentic AI truly autonomous.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 Ammar Amir introduced this framework to debunk the fear of AI replacing humans. The First 10% is pure human: writing clear instructions, guardrails, and business intent. The Middle 80% is handed to the AI — it does the heavy lifting at machine speed. The Final 10% returns to the human for verification, legal sign-off, and ownership. Result: humans are promoted from manual coders to systems architects.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enterprise vision: the human talks only to their Personal AI Delegate — a digital twin calibrated to their voice and strategy. The delegate translates intent into tasks for specialized sub-agents: Research, Scheduling, Budget Tracking, Copywriting, and Development. The whole system runs behind a locked corporate infrastructure with strict data boundaries and compute scaling. Zero micromanagement of individual agents by the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table summarizes the evolution cleanly. Key differentiators for Agentic AI: it accepts broad goals (not just prompts), maintains persistent memory, self-corrects recursively, and requires only 10% human governance. When presenting, highlight the 'Human Effort' row — this is what changes the developer's job description from coder to architect.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 implications are massive. Traditional SaaS seat-license models are under threat as agentic systems deliver outcomes without the overhead. Revenue models are shifting to outcome-based billing — you pay when the agent successfully ships a product or closes a deal. Pakistan's startups have a unique opportunity here: build outcome-delivering AI products with minimal capital expenditure.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seven principles form the non-negotiable foundation for enterprise agentic deployment. Principle 1 (Human Sovereignty) is the most critical — agents must always be stoppable by humans. Principle 2 (Localized Records) prevents stale-data hallucinations. Principles 6 and 7 are the safety rails — without kill switches and data guards, autonomous agents become unpredictable. Internalize all seven before deploying any production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biggest ideas from the session: (1) Agentic AI is real and deployable now. (2) Basic skills are obsolete — think architecture. (3) The 10-80-10 model redefines what a developer does. (4) Enterprise deployment requires layered safety. (5) This is a unique moment for Pakistani tech founders. Encourage questions after wrapping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call to action: the tools are here, the moment is now. Students who internalize the 10-80-10 framework and master agentic orchestration will lead the next wave of tech companies from Pakistan. Invite questions. Thank the faculty — Sir Zia Khan, Miss Hania Kazmi, and Sir Ammar Amir — for the session.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400" kern="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286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Shahmeer Aftab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Panaversity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Development, Claude Code, and OpenClaw Fundamentals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Lecture: </a:t>
            </a:r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 to General Agent Problem Solving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mediocrity to systemic excellence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871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852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→ Generative → Agentic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6758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Lifecycle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of autonomous runtime loops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29844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10-80-10 Framework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Human-machine delegation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48716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2852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delegates &amp; sub-agent networks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6758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&amp; golden design rules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ANTI-MEDIOCRE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PARADIGM SHIFT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07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Breaking Boundaries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chronic academic underperformance to completing 5 simultaneous graduate-level degrees across MIS, Engineering, and Finance.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42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Death of Mid-tier 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scripting, boilerplate generation, and data entry face immediate obsolescence in the Agentic AI era.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76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Partnership Over Hierarchy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repositioned as business partners — not employees — capable of launching world-class AI-native startups.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Standard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ARCHITECT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21408"/>
            <a:ext cx="2560320" cy="20116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21408"/>
            <a:ext cx="243230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3591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035808"/>
            <a:ext cx="2560320" cy="20116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035808"/>
            <a:ext cx="2304288" cy="201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2735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FOUNDER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950208"/>
            <a:ext cx="2560320" cy="20116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950208"/>
            <a:ext cx="2176272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Mediocrity has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place 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GENERATIONS OF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evolutionary arc from pattern matching to autonomous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2A6099">
              <a:alpha val="3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Machine Learning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560320" cy="18288"/>
          </a:xfrm>
          <a:prstGeom prst="rect">
            <a:avLst/>
          </a:prstGeom>
          <a:solidFill>
            <a:srgbClr val="4DA3E8">
              <a:alpha val="70000"/>
            </a:srgbClr>
          </a:solidFill>
          <a:ln w="12700">
            <a:solidFill>
              <a:srgbClr val="4DA3E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&amp; statistical algorithms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thousands of curated training samples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tasks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no contextual awareness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2A609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Spam filter, Cat vs. Dog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5B3A8A">
              <a:alpha val="3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1115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353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719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Tool 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011680"/>
            <a:ext cx="2560320" cy="18288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Petabyte-scale internet pre-training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text, code, images &amp; video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prompt interface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human stitching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42519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5B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ChatGPT, Claude, Gemini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05156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1A5C3A">
              <a:alpha val="3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11155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353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17190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Worker Era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011680"/>
            <a:ext cx="2560320" cy="18288"/>
          </a:xfrm>
          <a:prstGeom prst="rect">
            <a:avLst/>
          </a:prstGeom>
          <a:solidFill>
            <a:srgbClr val="00E5A0">
              <a:alpha val="70000"/>
            </a:srgbClr>
          </a:solidFill>
          <a:ln w="12700">
            <a:solidFill>
              <a:srgbClr val="00E5A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broad business goals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self-correcting loops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testing &amp; debugging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3337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digital FTE ownership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42519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A5C3A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Claude Code, AutoGPT agents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RUNTIME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autonomous phases from intent to outcome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0A4A7A">
              <a:alpha val="4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15568"/>
            <a:ext cx="731520" cy="731520"/>
          </a:xfrm>
          <a:prstGeom prst="ellipse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D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8803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broad goals into granular sequential tasks and data paths. Creates structured roadmap before any execution begins.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286000"/>
            <a:ext cx="164592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1762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0592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5B3A8A">
              <a:alpha val="4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115568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8803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live web connections for real-time market data. Eliminates reliance on stale pre-trained model weights.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62272" y="2286000"/>
            <a:ext cx="164592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21762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26864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1A5C3A">
              <a:alpha val="4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66944" y="1115568"/>
            <a:ext cx="731520" cy="73152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18304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18304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28803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code synthesis, UI generation, file compilation, and system assembly. Speed-executes the heavy construction.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38544" y="2286000"/>
            <a:ext cx="164592" cy="36576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2176272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03136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7A3A0A">
              <a:alpha val="4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43216" y="1115568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3216" y="11155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94576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94576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12864" y="288036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runtime logs, detects errors, and recursively self-corrects source code until the task successfully clears.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800600"/>
            <a:ext cx="841248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Recursive Self-Correction Loop  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10-80-10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91440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234440"/>
            <a:ext cx="6858000" cy="5029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34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914400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234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DIRECTION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explicit written instructions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domain constraints &amp; guardrails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legal &amp; business intent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architect in full control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92024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375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80%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EXECUTION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high-volume 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code generation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error correction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machine speed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92024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093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10%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GOVERNANCE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against design criteria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edge-case behaviors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&amp; corporate ownership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promotes to systems lead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AGENTIC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 AI Layer — Digital Twin Networks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1005840"/>
            <a:ext cx="1920240" cy="685800"/>
          </a:xfrm>
          <a:prstGeom prst="ellipse">
            <a:avLst/>
          </a:prstGeom>
          <a:solidFill>
            <a:srgbClr val="0A4A7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HUMAN ARCHITECT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20116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3A1A6A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PERSONAL AI DELEGATE (Digital Twin)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tone, strategy &amp; business intent — acts as automated project manager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33375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0A4A7A">
              <a:alpha val="60000"/>
            </a:srgbClr>
          </a:solidFill>
          <a:ln w="19050">
            <a:solidFill>
              <a:srgbClr val="4DA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333756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33375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1A5C3A">
              <a:alpha val="60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33756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33375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5B3A8A">
              <a:alpha val="60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33756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33375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7A3A0A">
              <a:alpha val="6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33756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333756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4A0A7A">
              <a:alpha val="60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337560"/>
            <a:ext cx="1600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743200"/>
            <a:ext cx="-3589020" cy="594360"/>
          </a:xfrm>
          <a:prstGeom prst="line">
            <a:avLst/>
          </a:prstGeom>
          <a:noFill/>
          <a:ln w="12700">
            <a:solidFill>
              <a:srgbClr val="B0BAC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2743200"/>
            <a:ext cx="-1805940" cy="594360"/>
          </a:xfrm>
          <a:prstGeom prst="line">
            <a:avLst/>
          </a:prstGeom>
          <a:noFill/>
          <a:ln w="12700">
            <a:solidFill>
              <a:srgbClr val="B0BAC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2743200"/>
            <a:ext cx="-22860" cy="594360"/>
          </a:xfrm>
          <a:prstGeom prst="line">
            <a:avLst/>
          </a:prstGeom>
          <a:noFill/>
          <a:ln w="12700">
            <a:solidFill>
              <a:srgbClr val="B0BAC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0" y="2743200"/>
            <a:ext cx="1760220" cy="594360"/>
          </a:xfrm>
          <a:prstGeom prst="line">
            <a:avLst/>
          </a:prstGeom>
          <a:noFill/>
          <a:ln w="12700">
            <a:solidFill>
              <a:srgbClr val="B0BAC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2743200"/>
            <a:ext cx="3543300" cy="594360"/>
          </a:xfrm>
          <a:prstGeom prst="line">
            <a:avLst/>
          </a:prstGeom>
          <a:noFill/>
          <a:ln w="12700">
            <a:solidFill>
              <a:srgbClr val="B0BAC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74320" y="4892040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1A1A3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Corporate Read/Write Boundaries  |  Localized System of Record  |  Dynamic Compute Scaling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41148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011680"/>
                <a:gridCol w="201168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/ 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Single-shot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business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code, images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&amp; dynamic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Recursive loops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stitching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product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DISRUPTION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Agentic AI reshapes revenue models &amp; enterprise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dev teams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155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vs. human coding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A2236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1155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License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billing replaces SaaS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Collapse of Legacy SaaS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subscription software faces severe devaluation as custom agentic codebases take hold. The $500/seat model is incompatible with autonomous delivery.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5146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Outcome-Based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0175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shifts from licensing seat counts to billing for successful business outcomes. Agents that ship products get paid per delivery — not per month.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51460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Digital FTE Economics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agentic system can replace 3-5 human FTEs at a fraction of operating cost. Enterprise scaling no longer requires proportional headcount growth.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DESIGN PRINCIPLES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rules for deploying safe, resilient agentic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33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Sovereignty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remain ultimate runtime authority. Hard-coded budget bounds in every execution layer.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5214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133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Records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4264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links to direct corporate data memory — never rely on stale pre-trained weights.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11226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093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3865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model capacity to task profiles. Prevent wasteful cloud resource depletion.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3911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11226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093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3865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transparent human-agent partnership built on open communication and mutual accountability.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9923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0723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054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Clarity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3467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Hyper-clear written instructions with domain boundaries enable autonomous execution without drift.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9923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0723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054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Guards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3467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access boundaries prevent agents from modifying unauthorized system resources.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95935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959352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5840" y="4032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Safety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325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self-correction loops must have maximum iteration caps and human-triggerable kill switches.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forward from this lecture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1234440"/>
            <a:ext cx="27432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887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not hype — it's the production frontier. The tools exist today. The opportunity is now.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4128" y="2020824"/>
            <a:ext cx="27432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97510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Mediocre skills are instantly obsolete. Your value lies in architectural thinking, not syntax memorization.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715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24128" y="2807208"/>
            <a:ext cx="27432" cy="411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7614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10-80-10 model redefines your role — from a coder who types to an architect who directs.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02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24128" y="3593592"/>
            <a:ext cx="27432" cy="411480"/>
          </a:xfrm>
          <a:prstGeom prst="rect">
            <a:avLst/>
          </a:prstGeom>
          <a:solidFill>
            <a:srgbClr val="4DA3E8"/>
          </a:solidFill>
          <a:ln w="12700">
            <a:solidFill>
              <a:srgbClr val="4DA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5478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requires layered governance: delegates, sub-agents, data guards, and kill switches.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236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24128" y="4379976"/>
            <a:ext cx="27432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33425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has a first-mover window. World-class AI-native startups can be built here, right now.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097280"/>
            <a:ext cx="3200400" cy="32004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BA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 that think. Architect outcomes that matter.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AI revolution from Pakistan.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Shahmeer Aftab</a:t>
            </a:r>
            <a:pPr indent="0" marL="0">
              <a:buNone/>
            </a:pPr>
            <a:r>
              <a:rPr lang="en-US" sz="1200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Panaversity  |  AI-Driven Development, Claude Code &amp; OpenClaw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01: Introduction to General Agent Problem Solving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the agentic era, the best architects don't write code — they write intent."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Architecture</dc:title>
  <dc:subject>PptxGenJS Presentation</dc:subject>
  <dc:creator>Shahmeer Aftab</dc:creator>
  <cp:lastModifiedBy>Shahmeer Aftab</cp:lastModifiedBy>
  <cp:revision>1</cp:revision>
  <dcterms:created xsi:type="dcterms:W3CDTF">2026-06-19T12:27:05Z</dcterms:created>
  <dcterms:modified xsi:type="dcterms:W3CDTF">2026-06-19T12:27:05Z</dcterms:modified>
</cp:coreProperties>
</file>